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836" r:id="rId2"/>
    <p:sldId id="1612" r:id="rId3"/>
    <p:sldId id="1655" r:id="rId4"/>
    <p:sldId id="1648" r:id="rId5"/>
    <p:sldId id="1657" r:id="rId6"/>
    <p:sldId id="1656" r:id="rId7"/>
    <p:sldId id="1654" r:id="rId8"/>
    <p:sldId id="1653" r:id="rId9"/>
    <p:sldId id="1652" r:id="rId10"/>
    <p:sldId id="1651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09B7"/>
    <a:srgbClr val="FF00FF"/>
    <a:srgbClr val="7E0C6E"/>
    <a:srgbClr val="FE4365"/>
    <a:srgbClr val="83AF9B"/>
    <a:srgbClr val="F9CDAD"/>
    <a:srgbClr val="C8C8A9"/>
    <a:srgbClr val="FD9D9A"/>
    <a:srgbClr val="DFD1E1"/>
    <a:srgbClr val="CBB5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72" autoAdjust="0"/>
    <p:restoredTop sz="91784" autoAdjust="0"/>
  </p:normalViewPr>
  <p:slideViewPr>
    <p:cSldViewPr snapToGrid="0">
      <p:cViewPr varScale="1">
        <p:scale>
          <a:sx n="83" d="100"/>
          <a:sy n="83" d="100"/>
        </p:scale>
        <p:origin x="13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06BB4-2C65-4E2B-839D-4CED5A4305D5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75FF09-559A-413E-B23E-0DFCD03CDB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345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0E898E-1401-4DDB-B865-CE6AAD04AEFC}" type="slidenum">
              <a:rPr lang="en-US" altLang="zh-CN" smtClean="0"/>
              <a:pPr/>
              <a:t>1</a:t>
            </a:fld>
            <a:endParaRPr lang="en-US" altLang="zh-CN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3D578E2B-A8B9-405F-B909-5B6F638F34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42D697-9AD4-4C24-ACAC-6A0F4A4BCD4E}" type="slidenum">
              <a:rPr lang="en-US" altLang="zh-CN" sz="1300" smtClean="0"/>
              <a:pPr>
                <a:spcBef>
                  <a:spcPct val="0"/>
                </a:spcBef>
              </a:pPr>
              <a:t>2</a:t>
            </a:fld>
            <a:endParaRPr lang="en-US" altLang="zh-CN" sz="13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61C35D61-7983-4A6F-8D87-4C24D8CD82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250F48A7-728A-4636-A0D3-31264386DE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9135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81844-9907-F75F-0AE3-E90654882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EC8783B-AC7E-0A9E-4F4C-AF7C2C7953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42D697-9AD4-4C24-ACAC-6A0F4A4BCD4E}" type="slidenum">
              <a:rPr lang="en-US" altLang="zh-CN" sz="1300" smtClean="0"/>
              <a:pPr>
                <a:spcBef>
                  <a:spcPct val="0"/>
                </a:spcBef>
              </a:pPr>
              <a:t>3</a:t>
            </a:fld>
            <a:endParaRPr lang="en-US" altLang="zh-CN" sz="13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0FFAFC17-53F9-CA8C-B708-92A12674E2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FC7E2BFA-710B-989C-C421-312ABEECC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683071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3D578E2B-A8B9-405F-B909-5B6F638F34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42D697-9AD4-4C24-ACAC-6A0F4A4BCD4E}" type="slidenum">
              <a:rPr lang="en-US" altLang="zh-CN" sz="1300" smtClean="0"/>
              <a:pPr>
                <a:spcBef>
                  <a:spcPct val="0"/>
                </a:spcBef>
              </a:pPr>
              <a:t>4</a:t>
            </a:fld>
            <a:endParaRPr lang="en-US" altLang="zh-CN" sz="13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61C35D61-7983-4A6F-8D87-4C24D8CD82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250F48A7-728A-4636-A0D3-31264386DE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97044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EDA60-F7A7-F35C-DFE0-AEDBBBB99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08CF0256-2E57-129A-A4FB-8CB8698976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42D697-9AD4-4C24-ACAC-6A0F4A4BCD4E}" type="slidenum">
              <a:rPr lang="en-US" altLang="zh-CN" sz="1300" smtClean="0"/>
              <a:pPr>
                <a:spcBef>
                  <a:spcPct val="0"/>
                </a:spcBef>
              </a:pPr>
              <a:t>5</a:t>
            </a:fld>
            <a:endParaRPr lang="en-US" altLang="zh-CN" sz="13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9A84EDCC-C55B-D325-04B3-FEEC8776CC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06F0A191-6EF4-FFE8-ABB0-EF691B503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368800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88A3E-41C8-F572-D2FD-FC513B5DD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E702E3D0-CE23-335F-4A16-076E7018D3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42D697-9AD4-4C24-ACAC-6A0F4A4BCD4E}" type="slidenum">
              <a:rPr lang="en-US" altLang="zh-CN" sz="1300" smtClean="0"/>
              <a:pPr>
                <a:spcBef>
                  <a:spcPct val="0"/>
                </a:spcBef>
              </a:pPr>
              <a:t>6</a:t>
            </a:fld>
            <a:endParaRPr lang="en-US" altLang="zh-CN" sz="13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BD441328-68B3-89C9-31EA-968087C958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CC0C84A8-64CE-2A0A-8D3F-9977D5EB8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11921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42D697-9AD4-4C24-ACAC-6A0F4A4BCD4E}" type="slidenum">
              <a:rPr lang="en-US" altLang="zh-CN" sz="1300" smtClean="0"/>
              <a:t>7</a:t>
            </a:fld>
            <a:endParaRPr lang="en-US" altLang="zh-CN" sz="13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358082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42D697-9AD4-4C24-ACAC-6A0F4A4BCD4E}" type="slidenum">
              <a:rPr lang="en-US" altLang="zh-CN" sz="1300" smtClean="0"/>
              <a:t>8</a:t>
            </a:fld>
            <a:endParaRPr lang="en-US" altLang="zh-CN" sz="13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120331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3D578E2B-A8B9-405F-B909-5B6F638F34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42D697-9AD4-4C24-ACAC-6A0F4A4BCD4E}" type="slidenum">
              <a:rPr lang="en-US" altLang="zh-CN" sz="1300" smtClean="0"/>
              <a:pPr>
                <a:spcBef>
                  <a:spcPct val="0"/>
                </a:spcBef>
              </a:pPr>
              <a:t>9</a:t>
            </a:fld>
            <a:endParaRPr lang="en-US" altLang="zh-CN" sz="13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61C35D61-7983-4A6F-8D87-4C24D8CD82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250F48A7-728A-4636-A0D3-31264386DE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展示往年优秀报告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908624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3D578E2B-A8B9-405F-B909-5B6F638F34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42D697-9AD4-4C24-ACAC-6A0F4A4BCD4E}" type="slidenum">
              <a:rPr lang="en-US" altLang="zh-CN" sz="1300" smtClean="0"/>
              <a:pPr>
                <a:spcBef>
                  <a:spcPct val="0"/>
                </a:spcBef>
              </a:pPr>
              <a:t>10</a:t>
            </a:fld>
            <a:endParaRPr lang="en-US" altLang="zh-CN" sz="13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61C35D61-7983-4A6F-8D87-4C24D8CD82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250F48A7-728A-4636-A0D3-31264386DE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227038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144000" cy="578581"/>
          </a:xfrm>
          <a:prstGeom prst="rect">
            <a:avLst/>
          </a:prstGeom>
          <a:solidFill>
            <a:srgbClr val="7E0C6E"/>
          </a:solidFill>
          <a:ln>
            <a:solidFill>
              <a:srgbClr val="7F2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8481761" y="26197"/>
            <a:ext cx="548949" cy="520015"/>
            <a:chOff x="2603366" y="22110"/>
            <a:chExt cx="879202" cy="892290"/>
          </a:xfrm>
        </p:grpSpPr>
        <p:sp>
          <p:nvSpPr>
            <p:cNvPr id="9" name="椭圆 8"/>
            <p:cNvSpPr/>
            <p:nvPr/>
          </p:nvSpPr>
          <p:spPr>
            <a:xfrm>
              <a:off x="2603366" y="22110"/>
              <a:ext cx="879201" cy="89229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Picture 2" descr="https://gss0.bdstatic.com/94o3dSag_xI4khGkpoWK1HF6hhy/baike/c0%3Dbaike150%2C5%2C5%2C150%2C50/sign=c622cca4b5014a9095334eefc81e5277/562c11dfa9ec8a13bb1224f6fb03918fa0ecc098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 flipV="1">
              <a:off x="2603367" y="22110"/>
              <a:ext cx="879201" cy="892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文本框 10"/>
          <p:cNvSpPr txBox="1"/>
          <p:nvPr userDrawn="1"/>
        </p:nvSpPr>
        <p:spPr>
          <a:xfrm>
            <a:off x="471949" y="1368"/>
            <a:ext cx="7256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6604937"/>
            <a:ext cx="9144000" cy="253064"/>
          </a:xfrm>
          <a:prstGeom prst="rect">
            <a:avLst/>
          </a:prstGeom>
          <a:solidFill>
            <a:srgbClr val="7E0C6E"/>
          </a:solidFill>
          <a:ln>
            <a:solidFill>
              <a:srgbClr val="7F2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日期占位符 8"/>
          <p:cNvSpPr txBox="1">
            <a:spLocks/>
          </p:cNvSpPr>
          <p:nvPr userDrawn="1"/>
        </p:nvSpPr>
        <p:spPr>
          <a:xfrm>
            <a:off x="471949" y="6604936"/>
            <a:ext cx="2057400" cy="2409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0FA613-B9E4-4FBF-8914-673569737EED}" type="datetime1">
              <a:rPr lang="zh-CN" altLang="en-US" sz="1600" smtClean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pPr/>
              <a:t>2026/10/5</a:t>
            </a:fld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灯片编号占位符 10"/>
          <p:cNvSpPr txBox="1">
            <a:spLocks/>
          </p:cNvSpPr>
          <p:nvPr userDrawn="1"/>
        </p:nvSpPr>
        <p:spPr>
          <a:xfrm>
            <a:off x="7086600" y="6599473"/>
            <a:ext cx="2057400" cy="2585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5C4720-E5E3-47C1-B89A-421EF3B8B01B}" type="slidenum">
              <a:rPr lang="zh-CN" altLang="en-US" sz="1600" smtClean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pPr/>
              <a:t>‹#›</a:t>
            </a:fld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B28F47-0014-4EFB-9109-AE5A4681AFC7}"/>
              </a:ext>
            </a:extLst>
          </p:cNvPr>
          <p:cNvSpPr txBox="1">
            <a:spLocks/>
          </p:cNvSpPr>
          <p:nvPr userDrawn="1"/>
        </p:nvSpPr>
        <p:spPr>
          <a:xfrm>
            <a:off x="2464025" y="6587335"/>
            <a:ext cx="4094570" cy="2585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计算机网络与信息安全研究室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9687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1925" y="4110038"/>
            <a:ext cx="2057400" cy="6481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354859-E1D3-43E9-846F-9A4943AFBB76}" type="datetime1">
              <a:rPr lang="zh-CN" altLang="en-US" smtClean="0"/>
              <a:pPr/>
              <a:t>2026/10/5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282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FAA85-7752-4E72-9050-47523BB43BAD}" type="datetime1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C4720-E5E3-47C1-B89A-421EF3B8B01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E615AC-9BB3-40DC-8932-B96B1180BF08}"/>
              </a:ext>
            </a:extLst>
          </p:cNvPr>
          <p:cNvSpPr/>
          <p:nvPr userDrawn="1"/>
        </p:nvSpPr>
        <p:spPr>
          <a:xfrm>
            <a:off x="0" y="0"/>
            <a:ext cx="9144000" cy="578581"/>
          </a:xfrm>
          <a:prstGeom prst="rect">
            <a:avLst/>
          </a:prstGeom>
          <a:solidFill>
            <a:srgbClr val="7E0C6E"/>
          </a:solidFill>
          <a:ln>
            <a:solidFill>
              <a:srgbClr val="7F2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541CC01-681B-4A72-A12A-6B48AD55992E}"/>
              </a:ext>
            </a:extLst>
          </p:cNvPr>
          <p:cNvGrpSpPr/>
          <p:nvPr userDrawn="1"/>
        </p:nvGrpSpPr>
        <p:grpSpPr>
          <a:xfrm>
            <a:off x="8481761" y="26197"/>
            <a:ext cx="548949" cy="520015"/>
            <a:chOff x="2603366" y="22110"/>
            <a:chExt cx="879202" cy="89229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2DC98C9-5C6B-43CE-B4FE-0E636EFB74EB}"/>
                </a:ext>
              </a:extLst>
            </p:cNvPr>
            <p:cNvSpPr/>
            <p:nvPr/>
          </p:nvSpPr>
          <p:spPr>
            <a:xfrm>
              <a:off x="2603366" y="22110"/>
              <a:ext cx="879201" cy="89229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Picture 2" descr="https://gss0.bdstatic.com/94o3dSag_xI4khGkpoWK1HF6hhy/baike/c0%3Dbaike150%2C5%2C5%2C150%2C50/sign=c622cca4b5014a9095334eefc81e5277/562c11dfa9ec8a13bb1224f6fb03918fa0ecc098.jpg">
              <a:extLst>
                <a:ext uri="{FF2B5EF4-FFF2-40B4-BE49-F238E27FC236}">
                  <a16:creationId xmlns:a16="http://schemas.microsoft.com/office/drawing/2014/main" id="{2338FB51-A6EB-43BC-BFF8-865309829E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 flipV="1">
              <a:off x="2603367" y="22110"/>
              <a:ext cx="879201" cy="892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D9A13220-393A-4901-B964-C462684A07D4}"/>
              </a:ext>
            </a:extLst>
          </p:cNvPr>
          <p:cNvSpPr txBox="1"/>
          <p:nvPr userDrawn="1"/>
        </p:nvSpPr>
        <p:spPr>
          <a:xfrm>
            <a:off x="471949" y="1368"/>
            <a:ext cx="7256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05C098-4A3F-45C8-AD5A-1B0CC9D82C44}"/>
              </a:ext>
            </a:extLst>
          </p:cNvPr>
          <p:cNvSpPr/>
          <p:nvPr userDrawn="1"/>
        </p:nvSpPr>
        <p:spPr>
          <a:xfrm>
            <a:off x="0" y="6604937"/>
            <a:ext cx="9144000" cy="253064"/>
          </a:xfrm>
          <a:prstGeom prst="rect">
            <a:avLst/>
          </a:prstGeom>
          <a:solidFill>
            <a:srgbClr val="7E0C6E"/>
          </a:solidFill>
          <a:ln>
            <a:solidFill>
              <a:srgbClr val="7F2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日期占位符 8">
            <a:extLst>
              <a:ext uri="{FF2B5EF4-FFF2-40B4-BE49-F238E27FC236}">
                <a16:creationId xmlns:a16="http://schemas.microsoft.com/office/drawing/2014/main" id="{EE61AAFC-D5F5-4AF9-8132-E49A3363102A}"/>
              </a:ext>
            </a:extLst>
          </p:cNvPr>
          <p:cNvSpPr txBox="1">
            <a:spLocks/>
          </p:cNvSpPr>
          <p:nvPr userDrawn="1"/>
        </p:nvSpPr>
        <p:spPr>
          <a:xfrm>
            <a:off x="471949" y="6604936"/>
            <a:ext cx="2057400" cy="2409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0FA613-B9E4-4FBF-8914-673569737EED}" type="datetime1">
              <a:rPr lang="zh-CN" altLang="en-US" sz="1600" smtClean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pPr/>
              <a:t>2026/10/5</a:t>
            </a:fld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灯片编号占位符 10">
            <a:extLst>
              <a:ext uri="{FF2B5EF4-FFF2-40B4-BE49-F238E27FC236}">
                <a16:creationId xmlns:a16="http://schemas.microsoft.com/office/drawing/2014/main" id="{F7ECEEA5-AD0B-4EEF-AD12-7A05EFA7AF0D}"/>
              </a:ext>
            </a:extLst>
          </p:cNvPr>
          <p:cNvSpPr txBox="1">
            <a:spLocks/>
          </p:cNvSpPr>
          <p:nvPr userDrawn="1"/>
        </p:nvSpPr>
        <p:spPr>
          <a:xfrm>
            <a:off x="7086600" y="6599473"/>
            <a:ext cx="2057400" cy="2585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5C4720-E5E3-47C1-B89A-421EF3B8B01B}" type="slidenum">
              <a:rPr lang="zh-CN" altLang="en-US" sz="1600" smtClean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pPr/>
              <a:t>‹#›</a:t>
            </a:fld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B58D73D-AE44-4628-B15C-06575F9F730D}"/>
              </a:ext>
            </a:extLst>
          </p:cNvPr>
          <p:cNvSpPr txBox="1">
            <a:spLocks/>
          </p:cNvSpPr>
          <p:nvPr userDrawn="1"/>
        </p:nvSpPr>
        <p:spPr>
          <a:xfrm>
            <a:off x="2464025" y="6587335"/>
            <a:ext cx="4094570" cy="2585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计算机网络与信息安全研究室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76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2">
            <a:extLst>
              <a:ext uri="{FF2B5EF4-FFF2-40B4-BE49-F238E27FC236}">
                <a16:creationId xmlns:a16="http://schemas.microsoft.com/office/drawing/2014/main" id="{EF8ED6A8-AA52-44C3-994B-B982BCD6D869}"/>
              </a:ext>
            </a:extLst>
          </p:cNvPr>
          <p:cNvSpPr txBox="1">
            <a:spLocks/>
          </p:cNvSpPr>
          <p:nvPr/>
        </p:nvSpPr>
        <p:spPr>
          <a:xfrm>
            <a:off x="1222858" y="5348179"/>
            <a:ext cx="6746244" cy="9037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计算机网络与信息安全研究室</a:t>
            </a:r>
            <a:endParaRPr lang="en-US" altLang="zh-CN" sz="2000" dirty="0">
              <a:solidFill>
                <a:schemeClr val="accent5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计算机学院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&amp;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网络空间安全学院</a:t>
            </a:r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2A6E10AF-4605-49AD-9A69-1FE4D754DB9F}"/>
              </a:ext>
            </a:extLst>
          </p:cNvPr>
          <p:cNvSpPr txBox="1">
            <a:spLocks/>
          </p:cNvSpPr>
          <p:nvPr/>
        </p:nvSpPr>
        <p:spPr>
          <a:xfrm>
            <a:off x="1056736" y="4189934"/>
            <a:ext cx="7264801" cy="9249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张建忠 吴英 苑新婧</a:t>
            </a:r>
            <a:endParaRPr lang="en-US" altLang="zh-CN" dirty="0">
              <a:solidFill>
                <a:schemeClr val="accent5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AA2F8BF-1A3F-499A-B459-DE65AE711A09}"/>
              </a:ext>
            </a:extLst>
          </p:cNvPr>
          <p:cNvSpPr txBox="1">
            <a:spLocks/>
          </p:cNvSpPr>
          <p:nvPr/>
        </p:nvSpPr>
        <p:spPr>
          <a:xfrm rot="10800000" flipH="1" flipV="1">
            <a:off x="1056736" y="1317523"/>
            <a:ext cx="7030527" cy="22909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3800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zh-CN" sz="4800" b="1" dirty="0">
                <a:latin typeface="楷体" panose="02010609060101010101" pitchFamily="49" charset="-122"/>
                <a:ea typeface="楷体" panose="02010609060101010101" pitchFamily="49" charset="-122"/>
              </a:rPr>
              <a:t>计算机网络</a:t>
            </a:r>
            <a:endParaRPr lang="en-US" altLang="zh-CN" sz="4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ts val="3900"/>
              </a:lnSpc>
              <a:spcBef>
                <a:spcPts val="600"/>
              </a:spcBef>
            </a:pPr>
            <a:r>
              <a:rPr lang="zh-CN" altLang="en-US" sz="3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实验课程注意事项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>
            <a:extLst>
              <a:ext uri="{FF2B5EF4-FFF2-40B4-BE49-F238E27FC236}">
                <a16:creationId xmlns:a16="http://schemas.microsoft.com/office/drawing/2014/main" id="{50C24412-25D2-4051-A47B-16E17DA6EF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7423" y="33555"/>
            <a:ext cx="4366266" cy="536895"/>
          </a:xfrm>
        </p:spPr>
        <p:txBody>
          <a:bodyPr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实验课程注意事项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8" name="Rectangle 3"/>
          <p:cNvSpPr txBox="1">
            <a:spLocks noChangeArrowheads="1"/>
          </p:cNvSpPr>
          <p:nvPr/>
        </p:nvSpPr>
        <p:spPr>
          <a:xfrm>
            <a:off x="163985" y="841805"/>
            <a:ext cx="8980015" cy="5603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共计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个实验，均为网络编程实验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每次实验完成后，需现场演示，并提交实验报告。源码、可执行文件和报告均需提交，格式为“学号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姓名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.zip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个实验中，选择其中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个对源码和实验过程进行讲解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每次实验报告提交时间，需在规定的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DDL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之前。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DDL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之后提交计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分。演示尽量在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DDL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之前完成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实验报告上传到任课教师指定网站，以网站提交时间为最终提交时间。请勿重复提交，重复提交将覆盖提交时间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955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DAEE9-802D-AFB5-8896-C8C05C089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>
            <a:extLst>
              <a:ext uri="{FF2B5EF4-FFF2-40B4-BE49-F238E27FC236}">
                <a16:creationId xmlns:a16="http://schemas.microsoft.com/office/drawing/2014/main" id="{BA9BBE03-5628-4110-6F93-3B8349CF0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7423" y="33555"/>
            <a:ext cx="4366266" cy="536895"/>
          </a:xfrm>
        </p:spPr>
        <p:txBody>
          <a:bodyPr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实验课程注意事项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01A3B20C-7345-1219-346B-49173ABE16A6}"/>
              </a:ext>
            </a:extLst>
          </p:cNvPr>
          <p:cNvSpPr txBox="1">
            <a:spLocks noChangeArrowheads="1"/>
          </p:cNvSpPr>
          <p:nvPr/>
        </p:nvSpPr>
        <p:spPr>
          <a:xfrm>
            <a:off x="163985" y="841805"/>
            <a:ext cx="8980015" cy="5603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实验按授课教师分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个大组，每组由一位（或两位）助教负责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为了避免同学等候，实验演示和讲解采用预约制，具体预约请与助教联系。预约请在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DDL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前两天完成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抄袭、代查等，双方均以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分计，且不接受任何申诉。请同学们切勿将自己的程序、报告等与其他同学共享，同时保护好自己的代码和报告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要求使用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C/C++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Windows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成绩权重：每个实验在总分中的权重不同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984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>
            <a:extLst>
              <a:ext uri="{FF2B5EF4-FFF2-40B4-BE49-F238E27FC236}">
                <a16:creationId xmlns:a16="http://schemas.microsoft.com/office/drawing/2014/main" id="{50C24412-25D2-4051-A47B-16E17DA6EF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3555"/>
            <a:ext cx="9143999" cy="53689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编程实验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：利用流式套接字编写聊天程序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8" name="Rectangle 3"/>
          <p:cNvSpPr txBox="1">
            <a:spLocks noChangeArrowheads="1"/>
          </p:cNvSpPr>
          <p:nvPr/>
        </p:nvSpPr>
        <p:spPr>
          <a:xfrm>
            <a:off x="-1" y="570450"/>
            <a:ext cx="9143999" cy="60376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实验要求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23900" lvl="1" indent="-26670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使用流式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，设计一个聊天协议，要求聊天信息带时间。请完整说明交互消息语法、语义、时序等具体消息处理方式</a:t>
            </a:r>
          </a:p>
          <a:p>
            <a:pPr marL="723900" lvl="1" indent="-26670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设计聊天程序，给出模块划分说明、模块功能和流程图</a:t>
            </a:r>
          </a:p>
          <a:p>
            <a:pPr marL="723900" lvl="1" indent="-26670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语言，使用基本</a:t>
            </a:r>
            <a:r>
              <a:rPr lang="e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函数进行程序编写，不允许使用封装后的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类或架构。程序界面可用命令行方式，但需给出使用方法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23900" lvl="1" indent="-26670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程序应支持英文和中文聊天</a:t>
            </a:r>
          </a:p>
          <a:p>
            <a:pPr marL="723900" lvl="1" indent="-26670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采用多线程，支持多人聊天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23900" lvl="1" indent="-26670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编写的程序应结构清晰，具有较好的可读性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23900" lvl="1" indent="-26670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观察是否有数据包的丢失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23900" lvl="1" indent="-26670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撰写实验报告，并将实验报告和源码提交至网站</a:t>
            </a:r>
            <a:endParaRPr lang="zh-CN" altLang="en-US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36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7A755-EEE4-D949-67C5-BB6228A3E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>
            <a:extLst>
              <a:ext uri="{FF2B5EF4-FFF2-40B4-BE49-F238E27FC236}">
                <a16:creationId xmlns:a16="http://schemas.microsoft.com/office/drawing/2014/main" id="{EDD43F3A-907F-DBE4-676F-215827B22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3555"/>
            <a:ext cx="8497824" cy="53689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编程实验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5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编写数据包捕获程序并分析捕获数据包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BC8431B4-29F4-CEFF-C053-07F0B06D027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70450"/>
            <a:ext cx="9144000" cy="6025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实验</a:t>
            </a:r>
            <a:r>
              <a:rPr lang="zh-CN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要求：</a:t>
            </a:r>
          </a:p>
          <a:p>
            <a:pPr marL="723900" lvl="1" indent="-26670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了解NPcap的架构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23900" lvl="1" indent="-26670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学习NPcap的设备列表获取方法、网卡设备打开方法，以及数据包捕获方法</a:t>
            </a:r>
          </a:p>
          <a:p>
            <a:pPr marL="723900" lvl="1" indent="-26670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通过NPcap编程，实现本机的数据包捕获，显示捕获数据帧的源MAC地址和目的MAC地址、类型字段的值、类型字段之后第一个字节的值</a:t>
            </a:r>
          </a:p>
          <a:p>
            <a:pPr marL="723900" lvl="1" indent="-26670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捕获数据包不要求硬盘存储，但应以简单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明确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的方式在屏幕上显示。必显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式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字段包括源MAC地址、目的MAC地址和类型/字段的值、类型字段之后第一个字节的值</a:t>
            </a:r>
          </a:p>
          <a:p>
            <a:pPr marL="723900" lvl="1" indent="-26670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编写的程序应结构清晰，具有较好的可读性</a:t>
            </a:r>
          </a:p>
          <a:p>
            <a:pPr marL="723900" lvl="1" indent="-266700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撰写实验报告，并将实验报告和源码提交至网站</a:t>
            </a:r>
            <a:endParaRPr lang="zh-CN" altLang="e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704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6EE29-09E3-4FA8-0511-F1B2A5E18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>
            <a:extLst>
              <a:ext uri="{FF2B5EF4-FFF2-40B4-BE49-F238E27FC236}">
                <a16:creationId xmlns:a16="http://schemas.microsoft.com/office/drawing/2014/main" id="{7854AA49-4C60-5FF8-F113-39F77B76E8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3555"/>
            <a:ext cx="9144000" cy="53689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编程实验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5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设计可靠传输协议并编程实现 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A160A9DB-F26B-76CB-F028-209B78E5098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70450"/>
            <a:ext cx="9144000" cy="6253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利用数据报套接字在用户空间实现面向连接的可靠传输</a:t>
            </a:r>
          </a:p>
          <a:p>
            <a:pPr marL="723900" lvl="1" indent="-266700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连接管理：包括建立连接、关闭连接和异常处理</a:t>
            </a:r>
          </a:p>
          <a:p>
            <a:pPr marL="723900" lvl="1" indent="-266700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差错检测：使用校验和进行差错检测</a:t>
            </a:r>
          </a:p>
          <a:p>
            <a:pPr marL="723900" lvl="1" indent="-266700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确认重传：支持流水线方式，采用选择确认</a:t>
            </a:r>
          </a:p>
          <a:p>
            <a:pPr marL="723900" lvl="1" indent="-266700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窗口：发送窗口和接收窗口使用相同的固定大小窗口</a:t>
            </a:r>
          </a:p>
          <a:p>
            <a:pPr marL="266700" indent="-266700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实验要求：</a:t>
            </a:r>
          </a:p>
          <a:p>
            <a:pPr marL="723900" lvl="1" indent="-266700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实现单向数据传输，控制信息需实现双向交互</a:t>
            </a:r>
          </a:p>
          <a:p>
            <a:pPr marL="723900" lvl="1" indent="-266700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给出详细的协议设计说明与实现方法说明</a:t>
            </a:r>
          </a:p>
          <a:p>
            <a:pPr marL="723900" lvl="1" indent="-266700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语言，使用基本</a:t>
            </a:r>
            <a:r>
              <a:rPr lang="e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函数进行程序编写，不允许使用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封装后的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类或架构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23900" lvl="1" indent="-266700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在规定的测试环境中，完成给定测试文件的传输，显示传输时间和平均吞吐率，观察不同发送和接收窗口大小对传输性能的影响（丢包情况）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-26670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897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77423" y="33555"/>
            <a:ext cx="4366266" cy="536895"/>
          </a:xfrm>
        </p:spPr>
        <p:txBody>
          <a:bodyPr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评分标准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8" name="Rectangle 3"/>
          <p:cNvSpPr txBox="1">
            <a:spLocks noChangeArrowheads="1"/>
          </p:cNvSpPr>
          <p:nvPr/>
        </p:nvSpPr>
        <p:spPr>
          <a:xfrm>
            <a:off x="243068" y="809625"/>
            <a:ext cx="8710432" cy="5486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评分标准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8650" lvl="1" indent="-36195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未演示（或未讲解源码和实验过程）、未提交实验报告、演示时程序运行失败（每个同学每个实验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次机会）、抄袭等以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分计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8650" lvl="1" indent="-36195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协议设计部分：约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30%</a:t>
            </a:r>
          </a:p>
          <a:p>
            <a:pPr marL="628650" lvl="1" indent="-36195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程序设计及实现：约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45%</a:t>
            </a:r>
          </a:p>
          <a:p>
            <a:pPr marL="628650" lvl="1" indent="-36195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实验报告：约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25%</a:t>
            </a:r>
          </a:p>
          <a:p>
            <a:pPr marL="266700" lvl="1" indent="0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None/>
              <a:defRPr/>
            </a:pP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注意：量力而行，确保程序运行正确、演示或讲解正确</a:t>
            </a:r>
            <a:endParaRPr lang="en-US" altLang="zh-CN" b="1" dirty="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91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77423" y="33555"/>
            <a:ext cx="4366266" cy="536895"/>
          </a:xfrm>
        </p:spPr>
        <p:txBody>
          <a:bodyPr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演示与讲解要求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8" name="Rectangle 3"/>
          <p:cNvSpPr txBox="1">
            <a:spLocks noChangeArrowheads="1"/>
          </p:cNvSpPr>
          <p:nvPr/>
        </p:nvSpPr>
        <p:spPr>
          <a:xfrm>
            <a:off x="0" y="590308"/>
            <a:ext cx="9063990" cy="5901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演示要求：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每人演示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1-2min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，主要检查实验是否成功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如果第一次演示失败，可以再演示一次，但最终演示分打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折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讲解要求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每人讲解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5-6min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，且讲解只有一次机会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需运行程序并进行展示（要求有必要的日志输出）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主要讲解传输流程及协议部分（协议的完整性和功能性是主要评分点）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检查时间比较紧张时，将有加课，由助教与同学们进行沟通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38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>
            <a:extLst>
              <a:ext uri="{FF2B5EF4-FFF2-40B4-BE49-F238E27FC236}">
                <a16:creationId xmlns:a16="http://schemas.microsoft.com/office/drawing/2014/main" id="{50C24412-25D2-4051-A47B-16E17DA6EF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7423" y="33555"/>
            <a:ext cx="4366266" cy="536895"/>
          </a:xfrm>
        </p:spPr>
        <p:txBody>
          <a:bodyPr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实验报告要求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8" name="Rectangle 3"/>
          <p:cNvSpPr txBox="1">
            <a:spLocks noChangeArrowheads="1"/>
          </p:cNvSpPr>
          <p:nvPr/>
        </p:nvSpPr>
        <p:spPr>
          <a:xfrm>
            <a:off x="0" y="659756"/>
            <a:ext cx="9144000" cy="5777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报告要求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源码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可执行文件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报告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报告需要包括：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协议设计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程序设计、实验过程等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各模块功能（主要函数、类的功能、核心代码展示等）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程序界面展示及运行说明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实验过程中遇到的问题及分析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525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79407" y="2821858"/>
            <a:ext cx="53192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Any question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595002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15102</TotalTime>
  <Words>935</Words>
  <Application>Microsoft Office PowerPoint</Application>
  <PresentationFormat>全屏显示(4:3)</PresentationFormat>
  <Paragraphs>83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等线</vt:lpstr>
      <vt:lpstr>楷体</vt:lpstr>
      <vt:lpstr>微软雅黑</vt:lpstr>
      <vt:lpstr>Arial</vt:lpstr>
      <vt:lpstr>Calibri</vt:lpstr>
      <vt:lpstr>Calibri Light</vt:lpstr>
      <vt:lpstr>Times New Roman</vt:lpstr>
      <vt:lpstr>Wingdings</vt:lpstr>
      <vt:lpstr>Office 主题​​</vt:lpstr>
      <vt:lpstr>PowerPoint 演示文稿</vt:lpstr>
      <vt:lpstr>实验课程注意事项</vt:lpstr>
      <vt:lpstr>实验课程注意事项</vt:lpstr>
      <vt:lpstr>编程实验1：利用流式套接字编写聊天程序</vt:lpstr>
      <vt:lpstr>编程实验2：编写数据包捕获程序并分析捕获数据包</vt:lpstr>
      <vt:lpstr>编程实验3：设计可靠传输协议并编程实现 </vt:lpstr>
      <vt:lpstr>评分标准</vt:lpstr>
      <vt:lpstr>演示与讲解要求</vt:lpstr>
      <vt:lpstr>实验报告要求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</dc:creator>
  <cp:lastModifiedBy>吴英</cp:lastModifiedBy>
  <cp:revision>767</cp:revision>
  <dcterms:created xsi:type="dcterms:W3CDTF">2019-06-10T02:39:00Z</dcterms:created>
  <dcterms:modified xsi:type="dcterms:W3CDTF">2026-10-05T08:11:00Z</dcterms:modified>
</cp:coreProperties>
</file>